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Fira Code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AF3419-7223-4031-950F-D27777489C61}">
  <a:tblStyle styleId="{3FAF3419-7223-4031-950F-D27777489C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7" Type="http://schemas.openxmlformats.org/officeDocument/2006/relationships/font" Target="fonts/FiraCod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b788d51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b788d51b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60570" y="1379339"/>
            <a:ext cx="6870858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Smart Home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Management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05225" y="3173610"/>
            <a:ext cx="4781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Efficient Device Control &amp; Automation using BST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14812" y="4430910"/>
            <a:ext cx="3762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Team: </a:t>
            </a: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Suhaas Sarabu &amp; Vishnu Polemera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72250" y="5199641"/>
            <a:ext cx="3847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Project Work | Department of CSE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415790" y="2024062"/>
            <a:ext cx="33604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2900362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Traditional IoT management systems often suffer from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linear search bottlenecks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As households add dozens of smart devices, managing state, power, and automation logic requires a highly optimized and scalable architecture.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44148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4315"/>
            <a:ext cx="5229225" cy="35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2338238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IoT Ecosystems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53840"/>
            <a:ext cx="5210175" cy="35121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23925" y="281448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2814488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Energy Efficiency: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Real-time tracking of power usage.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23925" y="344313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3443138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Home Automation: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Seamless control of AC, Fans, and Lights.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23925" y="407178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4071788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Scalability: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Easily add/remove devices in large networks.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3925" y="470043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4700438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Environmental Sensing: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Auto-adjusting to climate &amp; time.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Real-world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Application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5037"/>
            <a:ext cx="5229225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214562"/>
            <a:ext cx="5210175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381750" y="22050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Why Binary Search Tree?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0" y="2738437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system uses a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BST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store device nodes. This provides: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24650" y="357663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62750" y="3576637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Efficiency: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Average O(log n) for Search, Insert, and Delete.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420528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62750" y="4205287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Sorting: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Devices are automatically ordered by unique ID.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483393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62750" y="4833937"/>
            <a:ext cx="4848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Memory: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Dynamic allocation allows for minimal footprint.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Structure: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6025"/>
            <a:ext cx="35495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486025"/>
            <a:ext cx="3549699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486025"/>
            <a:ext cx="35495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813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876300" y="335280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Device Node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76300" y="3886200"/>
            <a:ext cx="295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Stores ID, Name, Room, Status, and Power metrics for each connected appliance.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6350" y="27813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4616350" y="335280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 Logic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16350" y="3886200"/>
            <a:ext cx="29591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Recursive algorithms traverse the tree to apply automation rules based on sensors.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7813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356550" y="335280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Interface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356550" y="3886200"/>
            <a:ext cx="295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CLI-based hub allowing CRUD operations and real-time monitoring of power.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6025"/>
            <a:ext cx="35495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486025"/>
            <a:ext cx="3549699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486025"/>
            <a:ext cx="35495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81300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76300" y="335280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Temp Logic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76300" y="3886200"/>
            <a:ext cx="295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If Temp &gt; 28°C,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turns ON. If Temp &gt; 26°C,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Fan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turns ON.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6350" y="27813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616350" y="335280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Night Mode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16350" y="3886200"/>
            <a:ext cx="29591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Detects time of day. If Night = True,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Lights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automatically switch ON.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7813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356550" y="335280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User Presence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56550" y="3886200"/>
            <a:ext cx="295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Safety override: If User is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Away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all devices are forced OFF to save energy.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Smart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19"/>
          <p:cNvGraphicFramePr/>
          <p:nvPr/>
        </p:nvGraphicFramePr>
        <p:xfrm>
          <a:off x="581025" y="2609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{3FAF3419-7223-4031-950F-D27777489C61}</a:tableStyleId>
              </a:tblPr>
              <a:tblGrid>
                <a:gridCol w="1481875"/>
                <a:gridCol w="2754075"/>
                <a:gridCol w="2032850"/>
                <a:gridCol w="4761150"/>
              </a:tblGrid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insert()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Registers new smart devices into BST.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search()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Locates specific device by unique ID.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totalPower()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Recursive calculation of active load.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smartHomeControl()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Traverses tree to apply global rules.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19"/>
          <p:cNvSpPr/>
          <p:nvPr/>
        </p:nvSpPr>
        <p:spPr>
          <a:xfrm>
            <a:off x="581025" y="3162300"/>
            <a:ext cx="148188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062906" y="3162300"/>
            <a:ext cx="275406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816971" y="3162300"/>
            <a:ext cx="203284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849814" y="3162300"/>
            <a:ext cx="476116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81025" y="3729037"/>
            <a:ext cx="14818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062906" y="3729037"/>
            <a:ext cx="27540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816971" y="3729037"/>
            <a:ext cx="20328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849814" y="3729037"/>
            <a:ext cx="47611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81025" y="4281487"/>
            <a:ext cx="14818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062906" y="4281487"/>
            <a:ext cx="27540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816971" y="4281487"/>
            <a:ext cx="20328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849814" y="4281487"/>
            <a:ext cx="47611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81025" y="4833937"/>
            <a:ext cx="14818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062906" y="4833937"/>
            <a:ext cx="27540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816971" y="4833937"/>
            <a:ext cx="20328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849814" y="4833937"/>
            <a:ext cx="47611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81025" y="5386387"/>
            <a:ext cx="148188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062906" y="5386387"/>
            <a:ext cx="27540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816971" y="5386387"/>
            <a:ext cx="20328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849814" y="5386387"/>
            <a:ext cx="47611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Implementation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Metrics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57150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Demo </a:t>
            </a:r>
            <a:r>
              <a:rPr b="0"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Execution Output</a:t>
            </a:r>
            <a:endParaRPr b="0" sz="42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99" name="Google Shape;199;p20"/>
          <p:cNvGrpSpPr/>
          <p:nvPr/>
        </p:nvGrpSpPr>
        <p:grpSpPr>
          <a:xfrm>
            <a:off x="571500" y="1714500"/>
            <a:ext cx="5381700" cy="2190900"/>
            <a:chOff x="571500" y="1714500"/>
            <a:chExt cx="5381700" cy="2190900"/>
          </a:xfrm>
        </p:grpSpPr>
        <p:sp>
          <p:nvSpPr>
            <p:cNvPr id="200" name="Google Shape;200;p20"/>
            <p:cNvSpPr/>
            <p:nvPr/>
          </p:nvSpPr>
          <p:spPr>
            <a:xfrm>
              <a:off x="571500" y="171450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762000" y="1905000"/>
              <a:ext cx="5000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Fira Code"/>
                  <a:ea typeface="Fira Code"/>
                  <a:cs typeface="Fira Code"/>
                  <a:sym typeface="Fira Code"/>
                </a:rPr>
                <a:t>INPUTTING DATA (CHOICE 1)</a:t>
              </a:r>
              <a:endParaRPr b="1" sz="1100">
                <a:solidFill>
                  <a:srgbClr val="DEFF9A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Choice: 1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ID: 101 | Name: AC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Status (ON/OFF): ON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Room: BDRM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86EFAC"/>
                  </a:solidFill>
                  <a:latin typeface="Fira Code"/>
                  <a:ea typeface="Fira Code"/>
                  <a:cs typeface="Fira Code"/>
                  <a:sym typeface="Fira Code"/>
                </a:rPr>
                <a:t>Power assigned: 20</a:t>
              </a:r>
              <a:endParaRPr b="0" sz="1000">
                <a:solidFill>
                  <a:srgbClr val="86EFA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6238875" y="1714500"/>
            <a:ext cx="5381700" cy="2190900"/>
            <a:chOff x="6238875" y="1714500"/>
            <a:chExt cx="5381700" cy="2190900"/>
          </a:xfrm>
        </p:grpSpPr>
        <p:sp>
          <p:nvSpPr>
            <p:cNvPr id="203" name="Google Shape;203;p20"/>
            <p:cNvSpPr/>
            <p:nvPr/>
          </p:nvSpPr>
          <p:spPr>
            <a:xfrm>
              <a:off x="6238875" y="171450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6429375" y="1905000"/>
              <a:ext cx="5000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Fira Code"/>
                  <a:ea typeface="Fira Code"/>
                  <a:cs typeface="Fira Code"/>
                  <a:sym typeface="Fira Code"/>
                </a:rPr>
                <a:t>DISPLAY REGISTRY (CHOICE 5)</a:t>
              </a:r>
              <a:endParaRPr b="1" sz="1100">
                <a:solidFill>
                  <a:srgbClr val="DEFF9A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86EFAC"/>
                  </a:solidFill>
                  <a:latin typeface="Fira Code"/>
                  <a:ea typeface="Fira Code"/>
                  <a:cs typeface="Fira Code"/>
                  <a:sym typeface="Fira Code"/>
                </a:rPr>
                <a:t>ID | Name | Sts | Room | Power</a:t>
              </a:r>
              <a:endParaRPr b="0" sz="900">
                <a:solidFill>
                  <a:srgbClr val="86EFAC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CBD5E1"/>
                  </a:solidFill>
                  <a:latin typeface="Fira Code"/>
                  <a:ea typeface="Fira Code"/>
                  <a:cs typeface="Fira Code"/>
                  <a:sym typeface="Fira Code"/>
                </a:rPr>
                <a:t>5 | LIGHT | OFF | HALL | 5</a:t>
              </a:r>
              <a:endParaRPr b="0" sz="9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CBD5E1"/>
                  </a:solidFill>
                  <a:latin typeface="Fira Code"/>
                  <a:ea typeface="Fira Code"/>
                  <a:cs typeface="Fira Code"/>
                  <a:sym typeface="Fira Code"/>
                </a:rPr>
                <a:t>10 | AC | OFF | BDRM | 20</a:t>
              </a:r>
              <a:endParaRPr b="0" sz="900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101 | AC | ON | BDRM | 20</a:t>
              </a:r>
              <a:endParaRPr b="0" sz="9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571500" y="4095750"/>
            <a:ext cx="5381700" cy="2190900"/>
            <a:chOff x="571500" y="4095750"/>
            <a:chExt cx="5381700" cy="2190900"/>
          </a:xfrm>
        </p:grpSpPr>
        <p:sp>
          <p:nvSpPr>
            <p:cNvPr id="206" name="Google Shape;206;p20"/>
            <p:cNvSpPr/>
            <p:nvPr/>
          </p:nvSpPr>
          <p:spPr>
            <a:xfrm>
              <a:off x="571500" y="409575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762000" y="4286250"/>
              <a:ext cx="5000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Fira Code"/>
                  <a:ea typeface="Fira Code"/>
                  <a:cs typeface="Fira Code"/>
                  <a:sym typeface="Fira Code"/>
                </a:rPr>
                <a:t>SEARCH &amp; UPDATE (CHOICE 3/4)</a:t>
              </a:r>
              <a:endParaRPr b="1" sz="1100">
                <a:solidFill>
                  <a:srgbClr val="DEFF9A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Choice: 4 | ID: 101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86EFAC"/>
                  </a:solidFill>
                  <a:latin typeface="Fira Code"/>
                  <a:ea typeface="Fira Code"/>
                  <a:cs typeface="Fira Code"/>
                  <a:sym typeface="Fira Code"/>
                </a:rPr>
                <a:t>Found -&gt; ID:101 | AC | ON | BDRM</a:t>
              </a:r>
              <a:endParaRPr b="0" sz="1000">
                <a:solidFill>
                  <a:srgbClr val="86EFAC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New name: COOLER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86EFAC"/>
                  </a:solidFill>
                  <a:latin typeface="Fira Code"/>
                  <a:ea typeface="Fira Code"/>
                  <a:cs typeface="Fira Code"/>
                  <a:sym typeface="Fira Code"/>
                </a:rPr>
                <a:t>Device updated successfully!</a:t>
              </a:r>
              <a:endParaRPr b="0" sz="1000">
                <a:solidFill>
                  <a:srgbClr val="86EFA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6238875" y="4095750"/>
            <a:ext cx="5381700" cy="2190900"/>
            <a:chOff x="6238875" y="4095750"/>
            <a:chExt cx="5381700" cy="2190900"/>
          </a:xfrm>
        </p:grpSpPr>
        <p:sp>
          <p:nvSpPr>
            <p:cNvPr id="209" name="Google Shape;209;p20"/>
            <p:cNvSpPr/>
            <p:nvPr/>
          </p:nvSpPr>
          <p:spPr>
            <a:xfrm>
              <a:off x="6238875" y="409575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6429375" y="4286250"/>
              <a:ext cx="5000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Fira Code"/>
                  <a:ea typeface="Fira Code"/>
                  <a:cs typeface="Fira Code"/>
                  <a:sym typeface="Fira Code"/>
                </a:rPr>
                <a:t>SMART ACTIVATION (CHOICE 6)</a:t>
              </a:r>
              <a:endParaRPr b="1" sz="1100">
                <a:solidFill>
                  <a:srgbClr val="DEFF9A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BEF264"/>
                  </a:solidFill>
                  <a:latin typeface="Fira Code"/>
                  <a:ea typeface="Fira Code"/>
                  <a:cs typeface="Fira Code"/>
                  <a:sym typeface="Fira Code"/>
                </a:rPr>
                <a:t>Temp: 30 | Night: 1</a:t>
              </a:r>
              <a:endParaRPr b="0" sz="1000">
                <a:solidFill>
                  <a:srgbClr val="BEF26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86EFAC"/>
                  </a:solidFill>
                  <a:latin typeface="Fira Code"/>
                  <a:ea typeface="Fira Code"/>
                  <a:cs typeface="Fira Code"/>
                  <a:sym typeface="Fira Code"/>
                </a:rPr>
                <a:t>Smart System Activated...</a:t>
              </a:r>
              <a:endParaRPr b="0" sz="1000">
                <a:solidFill>
                  <a:srgbClr val="86EFAC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Fira Code"/>
                  <a:ea typeface="Fira Code"/>
                  <a:cs typeface="Fira Code"/>
                  <a:sym typeface="Fira Code"/>
                </a:rPr>
                <a:t>Power Usage: 35 units</a:t>
              </a:r>
              <a:endParaRPr b="0" sz="1000">
                <a:solidFill>
                  <a:srgbClr val="DEFF9A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86EFAC"/>
                  </a:solidFill>
                  <a:latin typeface="Fira Code"/>
                  <a:ea typeface="Fira Code"/>
                  <a:cs typeface="Fira Code"/>
                  <a:sym typeface="Fira Code"/>
                </a:rPr>
                <a:t>Devices adjusted automatically!</a:t>
              </a:r>
              <a:endParaRPr b="0" sz="1000">
                <a:solidFill>
                  <a:srgbClr val="86EFA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43050"/>
            <a:ext cx="1102995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81025" y="4910137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Aggregate Power consumption is dynamically recalculated during every "Smart System" cycle.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Power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Analytics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95750"/>
            <a:ext cx="35495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4095750"/>
            <a:ext cx="3549699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4095750"/>
            <a:ext cx="354955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3685698" y="1704975"/>
            <a:ext cx="48206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4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2047875" y="2581275"/>
            <a:ext cx="8096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Smart Home Management System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successfully integrates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Binary Search Trees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solve the scalability and efficiency challenges of modern IoT environments. The system provides a robust framework for energy conservation and user comfort.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02324" y="4391025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Efficient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542372" y="4391025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Scalable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282575" y="4391025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Autonomous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74303"/>
            <a:ext cx="5229225" cy="4671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81025" y="2966888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Next Steps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583828"/>
            <a:ext cx="5210175" cy="465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923925" y="344313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62025" y="3443138"/>
            <a:ext cx="4848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Hardware Integration: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Arduino/NodeMCU links.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23925" y="3757463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62025" y="3757463"/>
            <a:ext cx="4848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Optimization: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Predictive energy usage.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923925" y="407178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962025" y="4071788"/>
            <a:ext cx="4848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Self-Balancing Trees: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AVL implementation.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23925" y="4386113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962025" y="4386113"/>
            <a:ext cx="4848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Web Dashboard: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GUI-based monitoring.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Future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2680573" y="2214562"/>
            <a:ext cx="6830853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Any </a:t>
            </a:r>
            <a:r>
              <a:rPr b="0" i="0" lang="en-US" sz="7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843212" y="3548062"/>
            <a:ext cx="6505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attention!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843212" y="4119562"/>
            <a:ext cx="65055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Suhaas Sarabu | Vishnu Polemera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